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</p:sldIdLst>
  <p:sldSz cx="18288000" cy="10287000"/>
  <p:notesSz cx="6858000" cy="9144000"/>
  <p:embeddedFontLst>
    <p:embeddedFont>
      <p:font typeface="Times New Roman" charset="1" panose="02020603050405020304"/>
      <p:regular r:id="rId32"/>
    </p:embeddedFont>
    <p:embeddedFont>
      <p:font typeface="Times New Roman Bold" charset="1" panose="02020803070505020304"/>
      <p:regular r:id="rId3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8.png" Type="http://schemas.openxmlformats.org/officeDocument/2006/relationships/image"/><Relationship Id="rId8" Target="../media/image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1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1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12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13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14.png" Type="http://schemas.openxmlformats.org/officeDocument/2006/relationships/image"/><Relationship Id="rId8" Target="../media/image15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16.png" Type="http://schemas.openxmlformats.org/officeDocument/2006/relationships/image"/><Relationship Id="rId8" Target="../media/image17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18.jpe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803701" y="-1276350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5084124" y="7600950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522665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226652" y="0"/>
                </a:lnTo>
                <a:lnTo>
                  <a:pt x="5226652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891268" y="-1552575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-767957" y="7762875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30599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059914" y="0"/>
                </a:lnTo>
                <a:lnTo>
                  <a:pt x="3059914" y="411480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564825" y="3785926"/>
            <a:ext cx="10761598" cy="6053399"/>
          </a:xfrm>
          <a:custGeom>
            <a:avLst/>
            <a:gdLst/>
            <a:ahLst/>
            <a:cxnLst/>
            <a:rect r="r" b="b" t="t" l="l"/>
            <a:pathLst>
              <a:path h="6053399" w="10761598">
                <a:moveTo>
                  <a:pt x="0" y="0"/>
                </a:moveTo>
                <a:lnTo>
                  <a:pt x="10761599" y="0"/>
                </a:lnTo>
                <a:lnTo>
                  <a:pt x="10761599" y="6053399"/>
                </a:lnTo>
                <a:lnTo>
                  <a:pt x="0" y="605339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894901" y="409575"/>
            <a:ext cx="10498197" cy="3558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79"/>
              </a:lnSpc>
            </a:pPr>
            <a:r>
              <a:rPr lang="en-US" sz="8499">
                <a:solidFill>
                  <a:srgbClr val="050E9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PRODUCT</a:t>
            </a:r>
          </a:p>
          <a:p>
            <a:pPr algn="ctr">
              <a:lnSpc>
                <a:spcPts val="9179"/>
              </a:lnSpc>
            </a:pPr>
            <a:r>
              <a:rPr lang="en-US" sz="8499">
                <a:solidFill>
                  <a:srgbClr val="050E9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RECOMMENDATION</a:t>
            </a:r>
          </a:p>
          <a:p>
            <a:pPr algn="ctr">
              <a:lnSpc>
                <a:spcPts val="9179"/>
              </a:lnSpc>
            </a:pPr>
            <a:r>
              <a:rPr lang="en-US" sz="8499">
                <a:solidFill>
                  <a:srgbClr val="050E9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803701" y="-1276350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5084124" y="7600950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522665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226652" y="0"/>
                </a:lnTo>
                <a:lnTo>
                  <a:pt x="5226652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891268" y="-1552575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-767957" y="7762875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30599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059914" y="0"/>
                </a:lnTo>
                <a:lnTo>
                  <a:pt x="3059914" y="411480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732188" y="381000"/>
            <a:ext cx="14595024" cy="1147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24"/>
              </a:lnSpc>
            </a:pPr>
            <a:r>
              <a:rPr lang="en-US" sz="7800" u="sng">
                <a:solidFill>
                  <a:srgbClr val="050E9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MENTOR &amp;TEAM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256404" y="2012724"/>
            <a:ext cx="4591645" cy="1047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5999">
                <a:solidFill>
                  <a:srgbClr val="050E9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Mentor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203243" y="4611688"/>
            <a:ext cx="5226844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>
                <a:solidFill>
                  <a:srgbClr val="050E9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Members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510365" y="3145305"/>
            <a:ext cx="2891552" cy="698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050E9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Dilavar Basha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742690" y="5956300"/>
            <a:ext cx="7256018" cy="3517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50E9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Shraddha Lokande</a:t>
            </a:r>
          </a:p>
          <a:p>
            <a:pPr algn="l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50E9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Yash Sonone</a:t>
            </a:r>
          </a:p>
          <a:p>
            <a:pPr algn="l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50E9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Jayshri Kor</a:t>
            </a:r>
          </a:p>
          <a:p>
            <a:pPr algn="l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50E9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Supriya Mathpati</a:t>
            </a:r>
          </a:p>
          <a:p>
            <a:pPr algn="l">
              <a:lnSpc>
                <a:spcPts val="5599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8289292" y="5956300"/>
            <a:ext cx="7256018" cy="2813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50E9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Prasanna Kulkarni</a:t>
            </a:r>
          </a:p>
          <a:p>
            <a:pPr algn="l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50E9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Hemasai Reddy</a:t>
            </a:r>
          </a:p>
          <a:p>
            <a:pPr algn="l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50E9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Sathwik Putta</a:t>
            </a:r>
          </a:p>
          <a:p>
            <a:pPr algn="l">
              <a:lnSpc>
                <a:spcPts val="5599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803701" y="-1276350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5084124" y="7600950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522665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226652" y="0"/>
                </a:lnTo>
                <a:lnTo>
                  <a:pt x="5226652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891268" y="-1552575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-767957" y="7762875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30599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059914" y="0"/>
                </a:lnTo>
                <a:lnTo>
                  <a:pt x="3059914" y="411480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846488" y="381000"/>
            <a:ext cx="14595024" cy="1147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24"/>
              </a:lnSpc>
            </a:pPr>
            <a:r>
              <a:rPr lang="en-US" sz="7800" u="sng">
                <a:solidFill>
                  <a:srgbClr val="050E9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206481" y="2444750"/>
            <a:ext cx="12261845" cy="6813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63599" indent="-431800" lvl="1">
              <a:lnSpc>
                <a:spcPts val="6799"/>
              </a:lnSpc>
              <a:buFont typeface="Arial"/>
              <a:buChar char="•"/>
            </a:pPr>
            <a:r>
              <a:rPr lang="en-US" sz="3999">
                <a:solidFill>
                  <a:srgbClr val="050E9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build a product recommendation system. </a:t>
            </a:r>
          </a:p>
          <a:p>
            <a:pPr algn="just" marL="863599" indent="-431800" lvl="1">
              <a:lnSpc>
                <a:spcPts val="6799"/>
              </a:lnSpc>
              <a:buFont typeface="Arial"/>
              <a:buChar char="•"/>
            </a:pPr>
            <a:r>
              <a:rPr lang="en-US" sz="3999">
                <a:solidFill>
                  <a:srgbClr val="050E9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analyze user-product interaction data to understand user preferences.</a:t>
            </a:r>
          </a:p>
          <a:p>
            <a:pPr algn="just" marL="863599" indent="-431800" lvl="1">
              <a:lnSpc>
                <a:spcPts val="6799"/>
              </a:lnSpc>
              <a:buFont typeface="Arial"/>
              <a:buChar char="•"/>
            </a:pPr>
            <a:r>
              <a:rPr lang="en-US" sz="3999">
                <a:solidFill>
                  <a:srgbClr val="050E9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recommend similar products based on rating behavior.</a:t>
            </a:r>
          </a:p>
          <a:p>
            <a:pPr algn="just" marL="863599" indent="-431800" lvl="1">
              <a:lnSpc>
                <a:spcPts val="6799"/>
              </a:lnSpc>
              <a:buFont typeface="Arial"/>
              <a:buChar char="•"/>
            </a:pPr>
            <a:r>
              <a:rPr lang="en-US" sz="3999">
                <a:solidFill>
                  <a:srgbClr val="050E9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deploy the recommendation system as a web-based application</a:t>
            </a:r>
          </a:p>
          <a:p>
            <a:pPr algn="just">
              <a:lnSpc>
                <a:spcPts val="6799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803701" y="-1276350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5084124" y="7600950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522665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226652" y="0"/>
                </a:lnTo>
                <a:lnTo>
                  <a:pt x="5226652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891268" y="-1552575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-767957" y="7762875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30599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059914" y="0"/>
                </a:lnTo>
                <a:lnTo>
                  <a:pt x="3059914" y="411480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846488" y="381000"/>
            <a:ext cx="14595024" cy="1147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24"/>
              </a:lnSpc>
            </a:pPr>
            <a:r>
              <a:rPr lang="en-US" sz="7800" u="sng">
                <a:solidFill>
                  <a:srgbClr val="050E9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311007" y="2149475"/>
            <a:ext cx="13305841" cy="7670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63599" indent="-431800" lvl="1">
              <a:lnSpc>
                <a:spcPts val="6799"/>
              </a:lnSpc>
              <a:buFont typeface="Arial"/>
              <a:buChar char="•"/>
            </a:pPr>
            <a:r>
              <a:rPr lang="en-US" sz="3999">
                <a:solidFill>
                  <a:srgbClr val="050E9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E-commerce platforms offer a large number of products, making it difficult for users to identify items that match their preferences.</a:t>
            </a:r>
          </a:p>
          <a:p>
            <a:pPr algn="just" marL="863599" indent="-431800" lvl="1">
              <a:lnSpc>
                <a:spcPts val="6799"/>
              </a:lnSpc>
              <a:buFont typeface="Arial"/>
              <a:buChar char="•"/>
            </a:pPr>
            <a:r>
              <a:rPr lang="en-US" sz="3999">
                <a:solidFill>
                  <a:srgbClr val="050E9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Manual searching through vast product catalogs leads to information overload and poor user experience.</a:t>
            </a:r>
          </a:p>
          <a:p>
            <a:pPr algn="just" marL="863599" indent="-431800" lvl="1">
              <a:lnSpc>
                <a:spcPts val="6799"/>
              </a:lnSpc>
              <a:buFont typeface="Arial"/>
              <a:buChar char="•"/>
            </a:pPr>
            <a:r>
              <a:rPr lang="en-US" sz="3999">
                <a:solidFill>
                  <a:srgbClr val="050E9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There is a need for an automated product recommendation system that can analyze past user behavior and suggest relevant and similar products.</a:t>
            </a:r>
          </a:p>
          <a:p>
            <a:pPr algn="just">
              <a:lnSpc>
                <a:spcPts val="6799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803701" y="-1276350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5084124" y="7600950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522665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226652" y="0"/>
                </a:lnTo>
                <a:lnTo>
                  <a:pt x="5226652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891268" y="-1552575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-767957" y="7762875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30599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059914" y="0"/>
                </a:lnTo>
                <a:lnTo>
                  <a:pt x="3059914" y="411480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846488" y="381000"/>
            <a:ext cx="14595024" cy="1147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24"/>
              </a:lnSpc>
            </a:pPr>
            <a:r>
              <a:rPr lang="en-US" sz="7800" u="sng">
                <a:solidFill>
                  <a:srgbClr val="050E9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DATASET DETAILS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470576" y="1645406"/>
            <a:ext cx="14428281" cy="641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040"/>
              </a:lnSpc>
            </a:pPr>
            <a:r>
              <a:rPr lang="en-US" sz="3600">
                <a:solidFill>
                  <a:srgbClr val="050E9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dataset contains user-product rating interactions.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564638" y="2743200"/>
            <a:ext cx="6290465" cy="2556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040"/>
              </a:lnSpc>
            </a:pPr>
            <a:r>
              <a:rPr lang="en-US" sz="3600" b="true">
                <a:solidFill>
                  <a:srgbClr val="050E9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1.Dataset Size:</a:t>
            </a:r>
          </a:p>
          <a:p>
            <a:pPr algn="just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50E9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Number of records: 78246</a:t>
            </a:r>
          </a:p>
          <a:p>
            <a:pPr algn="just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50E9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Number of attributes: 4</a:t>
            </a:r>
          </a:p>
          <a:p>
            <a:pPr algn="just">
              <a:lnSpc>
                <a:spcPts val="5040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9345406" y="2676525"/>
            <a:ext cx="8553450" cy="3832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040"/>
              </a:lnSpc>
            </a:pPr>
            <a:r>
              <a:rPr lang="en-US" sz="3600" b="true">
                <a:solidFill>
                  <a:srgbClr val="050E9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2. Attributes</a:t>
            </a:r>
          </a:p>
          <a:p>
            <a:pPr algn="just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50E9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userId: Unique user identifier</a:t>
            </a:r>
          </a:p>
          <a:p>
            <a:pPr algn="just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50E9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productId: Unique product identifier</a:t>
            </a:r>
          </a:p>
          <a:p>
            <a:pPr algn="just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50E9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rating: Rating given by the user</a:t>
            </a:r>
          </a:p>
          <a:p>
            <a:pPr algn="just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50E9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timestamp: Time of rating </a:t>
            </a:r>
          </a:p>
          <a:p>
            <a:pPr algn="just">
              <a:lnSpc>
                <a:spcPts val="5040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2564638" y="6092825"/>
            <a:ext cx="14428281" cy="2556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040"/>
              </a:lnSpc>
            </a:pPr>
            <a:r>
              <a:rPr lang="en-US" sz="3600" b="true">
                <a:solidFill>
                  <a:srgbClr val="050E9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3.Dataset Usage</a:t>
            </a:r>
          </a:p>
          <a:p>
            <a:pPr algn="just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50E9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US" sz="3600">
                <a:solidFill>
                  <a:srgbClr val="050E9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sed to analyze user preferences.</a:t>
            </a:r>
          </a:p>
          <a:p>
            <a:pPr algn="just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50E9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</a:t>
            </a:r>
            <a:r>
              <a:rPr lang="en-US" sz="3600">
                <a:solidFill>
                  <a:srgbClr val="050E9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ports item–item collaborative filtering for product recommendations.</a:t>
            </a:r>
          </a:p>
          <a:p>
            <a:pPr algn="just">
              <a:lnSpc>
                <a:spcPts val="5040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803701" y="-1276350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5084124" y="7600950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522665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226652" y="0"/>
                </a:lnTo>
                <a:lnTo>
                  <a:pt x="5226652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891268" y="-1552575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-767957" y="7762875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30599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059914" y="0"/>
                </a:lnTo>
                <a:lnTo>
                  <a:pt x="3059914" y="411480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606640" y="314935"/>
            <a:ext cx="11074721" cy="22143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24"/>
              </a:lnSpc>
            </a:pPr>
            <a:r>
              <a:rPr lang="en-US" sz="7800" u="sng">
                <a:solidFill>
                  <a:srgbClr val="050E9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EXPLORATORY DATA ANALYSIS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491080" y="2605507"/>
            <a:ext cx="7506007" cy="698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599"/>
              </a:lnSpc>
            </a:pPr>
            <a:r>
              <a:rPr lang="en-US" sz="3999" b="true">
                <a:solidFill>
                  <a:srgbClr val="050E9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Introduction &amp; Data Overview: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148180" y="3311525"/>
            <a:ext cx="14334541" cy="805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77240" indent="-388620" lvl="1">
              <a:lnSpc>
                <a:spcPts val="6120"/>
              </a:lnSpc>
              <a:buFont typeface="Arial"/>
              <a:buChar char="•"/>
            </a:pPr>
            <a:r>
              <a:rPr lang="en-US" sz="3600">
                <a:solidFill>
                  <a:srgbClr val="050E9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Exploratory Data Analysis (EDA) is performed to understand the structure and characteristics of the dataset.</a:t>
            </a:r>
          </a:p>
          <a:p>
            <a:pPr algn="just" marL="777240" indent="-388620" lvl="1">
              <a:lnSpc>
                <a:spcPts val="5688"/>
              </a:lnSpc>
              <a:buFont typeface="Arial"/>
              <a:buChar char="•"/>
            </a:pPr>
            <a:r>
              <a:rPr lang="en-US" sz="3600">
                <a:solidFill>
                  <a:srgbClr val="050E9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helps identify patterns, trends, and relationships in user-product rating data.</a:t>
            </a:r>
          </a:p>
          <a:p>
            <a:pPr algn="just" marL="777240" indent="-388620" lvl="1">
              <a:lnSpc>
                <a:spcPts val="5688"/>
              </a:lnSpc>
              <a:buFont typeface="Arial"/>
              <a:buChar char="•"/>
            </a:pPr>
            <a:r>
              <a:rPr lang="en-US" sz="3600">
                <a:solidFill>
                  <a:srgbClr val="050E9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EDA provides insights that support the selection of a suitable recommendation approach.</a:t>
            </a:r>
          </a:p>
          <a:p>
            <a:pPr algn="just" marL="777240" indent="-388620" lvl="1">
              <a:lnSpc>
                <a:spcPts val="5688"/>
              </a:lnSpc>
              <a:buFont typeface="Arial"/>
              <a:buChar char="•"/>
            </a:pPr>
            <a:r>
              <a:rPr lang="en-US" sz="3600">
                <a:solidFill>
                  <a:srgbClr val="050E9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There are 76,430 Unique Users, 40,228 Unique Products and 78,245 Total Interactions.</a:t>
            </a:r>
          </a:p>
          <a:p>
            <a:pPr algn="just">
              <a:lnSpc>
                <a:spcPts val="5688"/>
              </a:lnSpc>
            </a:pPr>
          </a:p>
          <a:p>
            <a:pPr algn="just">
              <a:lnSpc>
                <a:spcPts val="6120"/>
              </a:lnSpc>
            </a:pPr>
          </a:p>
          <a:p>
            <a:pPr algn="just">
              <a:lnSpc>
                <a:spcPts val="6120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803701" y="-1276350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5084124" y="7600950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522665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226652" y="0"/>
                </a:lnTo>
                <a:lnTo>
                  <a:pt x="5226652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005568" y="-1562100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-767957" y="7762875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30599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059914" y="0"/>
                </a:lnTo>
                <a:lnTo>
                  <a:pt x="3059914" y="411480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511032" y="2743200"/>
            <a:ext cx="7205468" cy="5664060"/>
          </a:xfrm>
          <a:custGeom>
            <a:avLst/>
            <a:gdLst/>
            <a:ahLst/>
            <a:cxnLst/>
            <a:rect r="r" b="b" t="t" l="l"/>
            <a:pathLst>
              <a:path h="5664060" w="7205468">
                <a:moveTo>
                  <a:pt x="0" y="0"/>
                </a:moveTo>
                <a:lnTo>
                  <a:pt x="7205468" y="0"/>
                </a:lnTo>
                <a:lnTo>
                  <a:pt x="7205468" y="5664060"/>
                </a:lnTo>
                <a:lnTo>
                  <a:pt x="0" y="566406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  <a:ln w="28575" cap="sq">
            <a:solidFill>
              <a:srgbClr val="050E9B"/>
            </a:solidFill>
            <a:prstDash val="solid"/>
            <a:miter/>
          </a:ln>
        </p:spPr>
      </p:sp>
      <p:sp>
        <p:nvSpPr>
          <p:cNvPr name="TextBox 8" id="8"/>
          <p:cNvSpPr txBox="true"/>
          <p:nvPr/>
        </p:nvSpPr>
        <p:spPr>
          <a:xfrm rot="0">
            <a:off x="2036731" y="1466850"/>
            <a:ext cx="7506007" cy="698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599"/>
              </a:lnSpc>
            </a:pPr>
            <a:r>
              <a:rPr lang="en-US" sz="3999" b="true">
                <a:solidFill>
                  <a:srgbClr val="050E9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Distribution of Product Ratings: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92138" y="2298065"/>
            <a:ext cx="8376142" cy="7122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77240" indent="-388620" lvl="1">
              <a:lnSpc>
                <a:spcPts val="5688"/>
              </a:lnSpc>
              <a:buFont typeface="Arial"/>
              <a:buChar char="•"/>
            </a:pPr>
            <a:r>
              <a:rPr lang="en-US" sz="3600">
                <a:solidFill>
                  <a:srgbClr val="050E9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chart shows the distribution of ratings provided by users across products.</a:t>
            </a:r>
          </a:p>
          <a:p>
            <a:pPr algn="just" marL="777240" indent="-388620" lvl="1">
              <a:lnSpc>
                <a:spcPts val="5688"/>
              </a:lnSpc>
              <a:buFont typeface="Arial"/>
              <a:buChar char="•"/>
            </a:pPr>
            <a:r>
              <a:rPr lang="en-US" sz="3600">
                <a:solidFill>
                  <a:srgbClr val="050E9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Most ratings are concentrated around specific values, indicating common user preferences.</a:t>
            </a:r>
          </a:p>
          <a:p>
            <a:pPr algn="just" marL="777240" indent="-388620" lvl="1">
              <a:lnSpc>
                <a:spcPts val="5688"/>
              </a:lnSpc>
              <a:buFont typeface="Arial"/>
              <a:buChar char="•"/>
            </a:pPr>
            <a:r>
              <a:rPr lang="en-US" sz="3600">
                <a:solidFill>
                  <a:srgbClr val="050E9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distribution helps understand overall user satisfaction and rating behavior.</a:t>
            </a:r>
          </a:p>
          <a:p>
            <a:pPr algn="just">
              <a:lnSpc>
                <a:spcPts val="5688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803701" y="-1276350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5084124" y="7600950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522665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226652" y="0"/>
                </a:lnTo>
                <a:lnTo>
                  <a:pt x="5226652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891268" y="-1552575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-767957" y="7762875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30599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059914" y="0"/>
                </a:lnTo>
                <a:lnTo>
                  <a:pt x="3059914" y="411480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482045" y="3161780"/>
            <a:ext cx="4198935" cy="6910747"/>
          </a:xfrm>
          <a:custGeom>
            <a:avLst/>
            <a:gdLst/>
            <a:ahLst/>
            <a:cxnLst/>
            <a:rect r="r" b="b" t="t" l="l"/>
            <a:pathLst>
              <a:path h="6910747" w="4198935">
                <a:moveTo>
                  <a:pt x="0" y="0"/>
                </a:moveTo>
                <a:lnTo>
                  <a:pt x="4198935" y="0"/>
                </a:lnTo>
                <a:lnTo>
                  <a:pt x="4198935" y="6910747"/>
                </a:lnTo>
                <a:lnTo>
                  <a:pt x="0" y="691074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  <a:ln w="28575" cap="sq">
            <a:solidFill>
              <a:srgbClr val="050E9B"/>
            </a:solidFill>
            <a:prstDash val="solid"/>
            <a:miter/>
          </a:ln>
        </p:spPr>
      </p:sp>
      <p:sp>
        <p:nvSpPr>
          <p:cNvPr name="TextBox 8" id="8"/>
          <p:cNvSpPr txBox="true"/>
          <p:nvPr/>
        </p:nvSpPr>
        <p:spPr>
          <a:xfrm rot="0">
            <a:off x="2291957" y="82550"/>
            <a:ext cx="7506007" cy="698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599"/>
              </a:lnSpc>
            </a:pPr>
            <a:r>
              <a:rPr lang="en-US" sz="3999" b="true">
                <a:solidFill>
                  <a:srgbClr val="050E9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Most Active Users: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07437" y="876300"/>
            <a:ext cx="6348151" cy="2836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688"/>
              </a:lnSpc>
            </a:pPr>
            <a:r>
              <a:rPr lang="en-US" sz="3600">
                <a:solidFill>
                  <a:srgbClr val="050E9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list shows users with the highest number of ratings in the dataset.</a:t>
            </a:r>
          </a:p>
          <a:p>
            <a:pPr algn="just">
              <a:lnSpc>
                <a:spcPts val="5688"/>
              </a:lnSpc>
            </a:pP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1610356" y="3185753"/>
            <a:ext cx="3349943" cy="6910747"/>
          </a:xfrm>
          <a:custGeom>
            <a:avLst/>
            <a:gdLst/>
            <a:ahLst/>
            <a:cxnLst/>
            <a:rect r="r" b="b" t="t" l="l"/>
            <a:pathLst>
              <a:path h="6910747" w="3349943">
                <a:moveTo>
                  <a:pt x="0" y="0"/>
                </a:moveTo>
                <a:lnTo>
                  <a:pt x="3349943" y="0"/>
                </a:lnTo>
                <a:lnTo>
                  <a:pt x="3349943" y="6910747"/>
                </a:lnTo>
                <a:lnTo>
                  <a:pt x="0" y="691074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1666" r="0" b="-1666"/>
            </a:stretch>
          </a:blipFill>
          <a:ln w="28575" cap="sq">
            <a:solidFill>
              <a:srgbClr val="050E9B"/>
            </a:solidFill>
            <a:prstDash val="solid"/>
            <a:miter/>
          </a:ln>
        </p:spPr>
      </p:sp>
      <p:sp>
        <p:nvSpPr>
          <p:cNvPr name="TextBox 11" id="11"/>
          <p:cNvSpPr txBox="true"/>
          <p:nvPr/>
        </p:nvSpPr>
        <p:spPr>
          <a:xfrm rot="0">
            <a:off x="9797965" y="876300"/>
            <a:ext cx="6328614" cy="3550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688"/>
              </a:lnSpc>
            </a:pPr>
            <a:r>
              <a:rPr lang="en-US" sz="3600">
                <a:solidFill>
                  <a:srgbClr val="050E9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list displays products that have received the highest number of ratings.</a:t>
            </a:r>
          </a:p>
          <a:p>
            <a:pPr algn="just">
              <a:lnSpc>
                <a:spcPts val="5688"/>
              </a:lnSpc>
            </a:pPr>
          </a:p>
          <a:p>
            <a:pPr algn="just">
              <a:lnSpc>
                <a:spcPts val="5688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10506453" y="82550"/>
            <a:ext cx="7506007" cy="698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599"/>
              </a:lnSpc>
            </a:pPr>
            <a:r>
              <a:rPr lang="en-US" sz="3999" b="true">
                <a:solidFill>
                  <a:srgbClr val="050E9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Most Rated Products:</a:t>
            </a:r>
          </a:p>
        </p:txBody>
      </p:sp>
      <p:sp>
        <p:nvSpPr>
          <p:cNvPr name="AutoShape 13" id="13"/>
          <p:cNvSpPr/>
          <p:nvPr/>
        </p:nvSpPr>
        <p:spPr>
          <a:xfrm flipH="true">
            <a:off x="8821296" y="365125"/>
            <a:ext cx="0" cy="9593102"/>
          </a:xfrm>
          <a:prstGeom prst="line">
            <a:avLst/>
          </a:prstGeom>
          <a:ln cap="flat" w="38100">
            <a:solidFill>
              <a:srgbClr val="050E9B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803701" y="-1276350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5084124" y="7600950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522665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226652" y="0"/>
                </a:lnTo>
                <a:lnTo>
                  <a:pt x="5226652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891268" y="-1552575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-767957" y="7762875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30599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059914" y="0"/>
                </a:lnTo>
                <a:lnTo>
                  <a:pt x="3059914" y="411480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592047" y="2314575"/>
            <a:ext cx="9103906" cy="3610832"/>
          </a:xfrm>
          <a:custGeom>
            <a:avLst/>
            <a:gdLst/>
            <a:ahLst/>
            <a:cxnLst/>
            <a:rect r="r" b="b" t="t" l="l"/>
            <a:pathLst>
              <a:path h="3610832" w="9103906">
                <a:moveTo>
                  <a:pt x="0" y="0"/>
                </a:moveTo>
                <a:lnTo>
                  <a:pt x="9103906" y="0"/>
                </a:lnTo>
                <a:lnTo>
                  <a:pt x="9103906" y="3610832"/>
                </a:lnTo>
                <a:lnTo>
                  <a:pt x="0" y="361083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  <a:ln w="38100" cap="sq">
            <a:solidFill>
              <a:srgbClr val="050E9B"/>
            </a:solidFill>
            <a:prstDash val="solid"/>
            <a:miter/>
          </a:ln>
        </p:spPr>
      </p:sp>
      <p:sp>
        <p:nvSpPr>
          <p:cNvPr name="TextBox 8" id="8"/>
          <p:cNvSpPr txBox="true"/>
          <p:nvPr/>
        </p:nvSpPr>
        <p:spPr>
          <a:xfrm rot="0">
            <a:off x="2152284" y="1510896"/>
            <a:ext cx="7506007" cy="698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599"/>
              </a:lnSpc>
            </a:pPr>
            <a:r>
              <a:rPr lang="en-US" sz="3999" b="true">
                <a:solidFill>
                  <a:srgbClr val="050E9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Data Sparsity: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936292" y="5927090"/>
            <a:ext cx="15484933" cy="3550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77240" indent="-388620" lvl="1">
              <a:lnSpc>
                <a:spcPts val="5688"/>
              </a:lnSpc>
              <a:buFont typeface="Arial"/>
              <a:buChar char="•"/>
            </a:pPr>
            <a:r>
              <a:rPr lang="en-US" sz="3600">
                <a:solidFill>
                  <a:srgbClr val="050E9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user-product interaction matrix is highly sparse.</a:t>
            </a:r>
          </a:p>
          <a:p>
            <a:pPr algn="just" marL="777240" indent="-388620" lvl="1">
              <a:lnSpc>
                <a:spcPts val="5688"/>
              </a:lnSpc>
              <a:buFont typeface="Arial"/>
              <a:buChar char="•"/>
            </a:pPr>
            <a:r>
              <a:rPr lang="en-US" sz="3600">
                <a:solidFill>
                  <a:srgbClr val="050E9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Most users have rated only a small fraction of available products.</a:t>
            </a:r>
          </a:p>
          <a:p>
            <a:pPr algn="just" marL="777240" indent="-388620" lvl="1">
              <a:lnSpc>
                <a:spcPts val="5688"/>
              </a:lnSpc>
              <a:buFont typeface="Arial"/>
              <a:buChar char="•"/>
            </a:pPr>
            <a:r>
              <a:rPr lang="en-US" sz="3600">
                <a:solidFill>
                  <a:srgbClr val="050E9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Sparsity is a common challenge in recommendation systems and affects model performance.</a:t>
            </a:r>
          </a:p>
          <a:p>
            <a:pPr algn="just">
              <a:lnSpc>
                <a:spcPts val="5688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803701" y="-1276350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5084124" y="7600950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522665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226652" y="0"/>
                </a:lnTo>
                <a:lnTo>
                  <a:pt x="5226652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891268" y="-1552575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-767957" y="7762875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30599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059914" y="0"/>
                </a:lnTo>
                <a:lnTo>
                  <a:pt x="3059914" y="411480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113940" y="2571750"/>
            <a:ext cx="9564460" cy="6043216"/>
          </a:xfrm>
          <a:custGeom>
            <a:avLst/>
            <a:gdLst/>
            <a:ahLst/>
            <a:cxnLst/>
            <a:rect r="r" b="b" t="t" l="l"/>
            <a:pathLst>
              <a:path h="6043216" w="9564460">
                <a:moveTo>
                  <a:pt x="0" y="0"/>
                </a:moveTo>
                <a:lnTo>
                  <a:pt x="9564460" y="0"/>
                </a:lnTo>
                <a:lnTo>
                  <a:pt x="9564460" y="6043216"/>
                </a:lnTo>
                <a:lnTo>
                  <a:pt x="0" y="604321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  <a:ln w="38100" cap="sq">
            <a:solidFill>
              <a:srgbClr val="050E9B"/>
            </a:solidFill>
            <a:prstDash val="solid"/>
            <a:miter/>
          </a:ln>
        </p:spPr>
      </p:sp>
      <p:sp>
        <p:nvSpPr>
          <p:cNvPr name="TextBox 8" id="8"/>
          <p:cNvSpPr txBox="true"/>
          <p:nvPr/>
        </p:nvSpPr>
        <p:spPr>
          <a:xfrm rot="0">
            <a:off x="1266459" y="1510896"/>
            <a:ext cx="8203819" cy="698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599"/>
              </a:lnSpc>
            </a:pPr>
            <a:r>
              <a:rPr lang="en-US" sz="3999" b="true">
                <a:solidFill>
                  <a:srgbClr val="050E9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User-Product Interaction Heatmap: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33450" y="2409825"/>
            <a:ext cx="6948279" cy="56936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77240" indent="-388620" lvl="1">
              <a:lnSpc>
                <a:spcPts val="5688"/>
              </a:lnSpc>
              <a:buFont typeface="Arial"/>
              <a:buChar char="•"/>
            </a:pPr>
            <a:r>
              <a:rPr lang="en-US" sz="3600">
                <a:solidFill>
                  <a:srgbClr val="050E9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heatmap shows rating interactions between users and products.</a:t>
            </a:r>
          </a:p>
          <a:p>
            <a:pPr algn="just" marL="777240" indent="-388620" lvl="1">
              <a:lnSpc>
                <a:spcPts val="5688"/>
              </a:lnSpc>
              <a:buFont typeface="Arial"/>
              <a:buChar char="•"/>
            </a:pPr>
            <a:r>
              <a:rPr lang="en-US" sz="3600">
                <a:solidFill>
                  <a:srgbClr val="050E9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Most cells are empty, confirming high data sparsity.</a:t>
            </a:r>
          </a:p>
          <a:p>
            <a:pPr algn="just" marL="777240" indent="-388620" lvl="1">
              <a:lnSpc>
                <a:spcPts val="5688"/>
              </a:lnSpc>
              <a:buFont typeface="Arial"/>
              <a:buChar char="•"/>
            </a:pPr>
            <a:r>
              <a:rPr lang="en-US" sz="3600">
                <a:solidFill>
                  <a:srgbClr val="050E9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Only a limited number of user–product pairs have ratings.</a:t>
            </a:r>
          </a:p>
          <a:p>
            <a:pPr algn="just">
              <a:lnSpc>
                <a:spcPts val="5688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803701" y="-1276350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5084124" y="7600950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522665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226652" y="0"/>
                </a:lnTo>
                <a:lnTo>
                  <a:pt x="5226652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891268" y="-1552575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-767957" y="7762875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30599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059914" y="0"/>
                </a:lnTo>
                <a:lnTo>
                  <a:pt x="3059914" y="411480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152284" y="1348971"/>
            <a:ext cx="7506007" cy="698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599"/>
              </a:lnSpc>
            </a:pPr>
            <a:r>
              <a:rPr lang="en-US" sz="3999" b="true">
                <a:solidFill>
                  <a:srgbClr val="050E9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Data Filtering: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74367" y="2238375"/>
            <a:ext cx="14926564" cy="8551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77240" indent="-388620" lvl="1">
              <a:lnSpc>
                <a:spcPts val="5688"/>
              </a:lnSpc>
              <a:buFont typeface="Arial"/>
              <a:buChar char="•"/>
            </a:pPr>
            <a:r>
              <a:rPr lang="en-US" sz="3600">
                <a:solidFill>
                  <a:srgbClr val="050E9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filtering was applied to remove users and products with very few interactions.</a:t>
            </a:r>
          </a:p>
          <a:p>
            <a:pPr algn="just" marL="777240" indent="-388620" lvl="1">
              <a:lnSpc>
                <a:spcPts val="5688"/>
              </a:lnSpc>
              <a:buFont typeface="Arial"/>
              <a:buChar char="•"/>
            </a:pPr>
            <a:r>
              <a:rPr lang="en-US" sz="3600">
                <a:solidFill>
                  <a:srgbClr val="050E9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Original dataset before data filtering is (78245, 3)</a:t>
            </a:r>
          </a:p>
          <a:p>
            <a:pPr algn="just" marL="777240" indent="-388620" lvl="1">
              <a:lnSpc>
                <a:spcPts val="5688"/>
              </a:lnSpc>
              <a:buFont typeface="Arial"/>
              <a:buChar char="•"/>
            </a:pPr>
            <a:r>
              <a:rPr lang="en-US" sz="3600">
                <a:solidFill>
                  <a:srgbClr val="050E9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After doing the data filtering the dataset size is (1020, 3)</a:t>
            </a:r>
          </a:p>
          <a:p>
            <a:pPr algn="just" marL="777240" indent="-388620" lvl="1">
              <a:lnSpc>
                <a:spcPts val="5688"/>
              </a:lnSpc>
              <a:buFont typeface="Arial"/>
              <a:buChar char="•"/>
            </a:pPr>
            <a:r>
              <a:rPr lang="en-US" sz="3600">
                <a:solidFill>
                  <a:srgbClr val="050E9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helps reduce noise and improves the reliability of similarity calculations.</a:t>
            </a:r>
          </a:p>
          <a:p>
            <a:pPr algn="just" marL="777240" indent="-388620" lvl="1">
              <a:lnSpc>
                <a:spcPts val="5688"/>
              </a:lnSpc>
              <a:buFont typeface="Arial"/>
              <a:buChar char="•"/>
            </a:pPr>
            <a:r>
              <a:rPr lang="en-US" sz="3600">
                <a:solidFill>
                  <a:srgbClr val="050E9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Filtering ensures that the recommendation system is trained on meaningful user-product interactions.</a:t>
            </a:r>
          </a:p>
          <a:p>
            <a:pPr algn="just" marL="777240" indent="-388620" lvl="1">
              <a:lnSpc>
                <a:spcPts val="5688"/>
              </a:lnSpc>
              <a:buFont typeface="Arial"/>
              <a:buChar char="•"/>
            </a:pPr>
            <a:r>
              <a:rPr lang="en-US" sz="3600">
                <a:solidFill>
                  <a:srgbClr val="050E9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Low-interaction users/products add little value to recommendations.</a:t>
            </a:r>
          </a:p>
          <a:p>
            <a:pPr algn="just" marL="777240" indent="-388620" lvl="1">
              <a:lnSpc>
                <a:spcPts val="5688"/>
              </a:lnSpc>
              <a:buFont typeface="Arial"/>
              <a:buChar char="•"/>
            </a:pPr>
            <a:r>
              <a:rPr lang="en-US" sz="3600">
                <a:solidFill>
                  <a:srgbClr val="050E9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Filtering improves both accuracy and performance.</a:t>
            </a:r>
          </a:p>
          <a:p>
            <a:pPr algn="just">
              <a:lnSpc>
                <a:spcPts val="5688"/>
              </a:lnSpc>
            </a:pPr>
          </a:p>
          <a:p>
            <a:pPr algn="just">
              <a:lnSpc>
                <a:spcPts val="5688"/>
              </a:lnSpc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803701" y="-1276350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5084124" y="7600950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522665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226652" y="0"/>
                </a:lnTo>
                <a:lnTo>
                  <a:pt x="5226652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891268" y="-1552575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-767957" y="7762875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30599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059914" y="0"/>
                </a:lnTo>
                <a:lnTo>
                  <a:pt x="3059914" y="411480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990359" y="1510896"/>
            <a:ext cx="7506007" cy="698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599"/>
              </a:lnSpc>
            </a:pPr>
            <a:r>
              <a:rPr lang="en-US" sz="3999" b="true">
                <a:solidFill>
                  <a:srgbClr val="050E9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User-Item Matrix Creation: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30423" y="2238375"/>
            <a:ext cx="14950954" cy="7836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77240" indent="-388620" lvl="1">
              <a:lnSpc>
                <a:spcPts val="5688"/>
              </a:lnSpc>
              <a:buFont typeface="Arial"/>
              <a:buChar char="•"/>
            </a:pPr>
            <a:r>
              <a:rPr lang="en-US" sz="3600">
                <a:solidFill>
                  <a:srgbClr val="050E9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user-item matrix was created using users as rows and products as columns.</a:t>
            </a:r>
          </a:p>
          <a:p>
            <a:pPr algn="just" marL="777240" indent="-388620" lvl="1">
              <a:lnSpc>
                <a:spcPts val="5688"/>
              </a:lnSpc>
              <a:buFont typeface="Arial"/>
              <a:buChar char="•"/>
            </a:pPr>
            <a:r>
              <a:rPr lang="en-US" sz="3600">
                <a:solidFill>
                  <a:srgbClr val="050E9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There were 824 users and 743 products.</a:t>
            </a:r>
          </a:p>
          <a:p>
            <a:pPr algn="just" marL="777240" indent="-388620" lvl="1">
              <a:lnSpc>
                <a:spcPts val="5688"/>
              </a:lnSpc>
              <a:buFont typeface="Arial"/>
              <a:buChar char="•"/>
            </a:pPr>
            <a:r>
              <a:rPr lang="en-US" sz="3600">
                <a:solidFill>
                  <a:srgbClr val="050E9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Each cell represents the rating given by a user to a product.</a:t>
            </a:r>
          </a:p>
          <a:p>
            <a:pPr algn="just" marL="777240" indent="-388620" lvl="1">
              <a:lnSpc>
                <a:spcPts val="5688"/>
              </a:lnSpc>
              <a:buFont typeface="Arial"/>
              <a:buChar char="•"/>
            </a:pPr>
            <a:r>
              <a:rPr lang="en-US" sz="3600">
                <a:solidFill>
                  <a:srgbClr val="050E9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Most entries in the matrix are 0, showing that users interact with only a few products.</a:t>
            </a:r>
          </a:p>
          <a:p>
            <a:pPr algn="just" marL="777240" indent="-388620" lvl="1">
              <a:lnSpc>
                <a:spcPts val="5688"/>
              </a:lnSpc>
              <a:buFont typeface="Arial"/>
              <a:buChar char="•"/>
            </a:pPr>
            <a:r>
              <a:rPr lang="en-US" sz="3600">
                <a:solidFill>
                  <a:srgbClr val="050E9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confirms that the data remains highly sparse, even after filtering.</a:t>
            </a:r>
          </a:p>
          <a:p>
            <a:pPr algn="just" marL="777240" indent="-388620" lvl="1">
              <a:lnSpc>
                <a:spcPts val="5688"/>
              </a:lnSpc>
              <a:buFont typeface="Arial"/>
              <a:buChar char="•"/>
            </a:pPr>
            <a:r>
              <a:rPr lang="en-US" sz="3600">
                <a:solidFill>
                  <a:srgbClr val="050E9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matrix forms the foundation for similarity calculation and recommendation generation.</a:t>
            </a:r>
          </a:p>
          <a:p>
            <a:pPr algn="just" marL="777240" indent="-388620" lvl="1">
              <a:lnSpc>
                <a:spcPts val="5688"/>
              </a:lnSpc>
              <a:buFont typeface="Arial"/>
              <a:buChar char="•"/>
            </a:pPr>
            <a:r>
              <a:rPr lang="en-US" sz="3600">
                <a:solidFill>
                  <a:srgbClr val="050E9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Most matrix values are empty, reinforcing data sparsity.</a:t>
            </a:r>
          </a:p>
          <a:p>
            <a:pPr algn="just" marL="777240" indent="-388620" lvl="1">
              <a:lnSpc>
                <a:spcPts val="5688"/>
              </a:lnSpc>
              <a:buFont typeface="Arial"/>
              <a:buChar char="•"/>
            </a:pPr>
            <a:r>
              <a:rPr lang="en-US" sz="3600">
                <a:solidFill>
                  <a:srgbClr val="050E9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Structured representation enables efficient computation.</a:t>
            </a:r>
          </a:p>
          <a:p>
            <a:pPr algn="just">
              <a:lnSpc>
                <a:spcPts val="5688"/>
              </a:lnSpc>
            </a:pPr>
          </a:p>
          <a:p>
            <a:pPr algn="just">
              <a:lnSpc>
                <a:spcPts val="5688"/>
              </a:lnSpc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803701" y="-1276350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5084124" y="7600950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522665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226652" y="0"/>
                </a:lnTo>
                <a:lnTo>
                  <a:pt x="5226652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891268" y="-1552575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-767957" y="7762875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30599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059914" y="0"/>
                </a:lnTo>
                <a:lnTo>
                  <a:pt x="3059914" y="411480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152284" y="2914650"/>
            <a:ext cx="14651328" cy="6014756"/>
          </a:xfrm>
          <a:custGeom>
            <a:avLst/>
            <a:gdLst/>
            <a:ahLst/>
            <a:cxnLst/>
            <a:rect r="r" b="b" t="t" l="l"/>
            <a:pathLst>
              <a:path h="6014756" w="14651328">
                <a:moveTo>
                  <a:pt x="0" y="0"/>
                </a:moveTo>
                <a:lnTo>
                  <a:pt x="14651328" y="0"/>
                </a:lnTo>
                <a:lnTo>
                  <a:pt x="14651328" y="6014756"/>
                </a:lnTo>
                <a:lnTo>
                  <a:pt x="0" y="601475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  <a:ln w="38100" cap="sq">
            <a:solidFill>
              <a:srgbClr val="050E9B"/>
            </a:solidFill>
            <a:prstDash val="solid"/>
            <a:miter/>
          </a:ln>
        </p:spPr>
      </p:sp>
      <p:sp>
        <p:nvSpPr>
          <p:cNvPr name="TextBox 8" id="8"/>
          <p:cNvSpPr txBox="true"/>
          <p:nvPr/>
        </p:nvSpPr>
        <p:spPr>
          <a:xfrm rot="0">
            <a:off x="3606640" y="314935"/>
            <a:ext cx="11074721" cy="1147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24"/>
              </a:lnSpc>
            </a:pPr>
            <a:r>
              <a:rPr lang="en-US" sz="7800" u="sng">
                <a:solidFill>
                  <a:srgbClr val="050E9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 BUILDING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152284" y="1749021"/>
            <a:ext cx="11363248" cy="698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599"/>
              </a:lnSpc>
            </a:pPr>
            <a:r>
              <a:rPr lang="en-US" sz="3999" b="true">
                <a:solidFill>
                  <a:srgbClr val="050E9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1. Model 1 – Item-Based Collaborative Filtering: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803701" y="-1276350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5084124" y="7600950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522665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226652" y="0"/>
                </a:lnTo>
                <a:lnTo>
                  <a:pt x="5226652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891268" y="-1552575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-767957" y="7762875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30599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059914" y="0"/>
                </a:lnTo>
                <a:lnTo>
                  <a:pt x="3059914" y="411480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272907" y="1431036"/>
            <a:ext cx="13440901" cy="7836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77240" indent="-388620" lvl="1">
              <a:lnSpc>
                <a:spcPts val="5688"/>
              </a:lnSpc>
              <a:buFont typeface="Arial"/>
              <a:buChar char="•"/>
            </a:pPr>
            <a:r>
              <a:rPr lang="en-US" sz="3600">
                <a:solidFill>
                  <a:srgbClr val="050E9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Item-based collaborative filtering recommends products similar to those previously rated by the user.</a:t>
            </a:r>
          </a:p>
          <a:p>
            <a:pPr algn="just" marL="777240" indent="-388620" lvl="1">
              <a:lnSpc>
                <a:spcPts val="5688"/>
              </a:lnSpc>
              <a:buFont typeface="Arial"/>
              <a:buChar char="•"/>
            </a:pPr>
            <a:r>
              <a:rPr lang="en-US" sz="3600">
                <a:solidFill>
                  <a:srgbClr val="050E9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Similarity between products is calculated using user rating patterns.</a:t>
            </a:r>
          </a:p>
          <a:p>
            <a:pPr algn="just" marL="777240" indent="-388620" lvl="1">
              <a:lnSpc>
                <a:spcPts val="5688"/>
              </a:lnSpc>
              <a:buFont typeface="Arial"/>
              <a:buChar char="•"/>
            </a:pPr>
            <a:r>
              <a:rPr lang="en-US" sz="3600">
                <a:solidFill>
                  <a:srgbClr val="050E9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Works well for sparse datasets with many users and items.</a:t>
            </a:r>
          </a:p>
          <a:p>
            <a:pPr algn="just" marL="777240" indent="-388620" lvl="1">
              <a:lnSpc>
                <a:spcPts val="5688"/>
              </a:lnSpc>
              <a:buFont typeface="Arial"/>
              <a:buChar char="•"/>
            </a:pPr>
            <a:r>
              <a:rPr lang="en-US" sz="3600">
                <a:solidFill>
                  <a:srgbClr val="050E9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Provides stable and scalable recommendations for e-commerce platforms.</a:t>
            </a:r>
          </a:p>
          <a:p>
            <a:pPr algn="just" marL="777240" indent="-388620" lvl="1">
              <a:lnSpc>
                <a:spcPts val="5688"/>
              </a:lnSpc>
              <a:buFont typeface="Arial"/>
              <a:buChar char="•"/>
            </a:pPr>
            <a:r>
              <a:rPr lang="en-US" sz="3600">
                <a:solidFill>
                  <a:srgbClr val="050E9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Focuses on product-to-product relationships, which helps generate personalized suggestions efficiently.</a:t>
            </a:r>
          </a:p>
          <a:p>
            <a:pPr algn="just" marL="777240" indent="-388620" lvl="1">
              <a:lnSpc>
                <a:spcPts val="5688"/>
              </a:lnSpc>
              <a:buFont typeface="Arial"/>
              <a:buChar char="•"/>
            </a:pPr>
            <a:r>
              <a:rPr lang="en-US" sz="3600">
                <a:solidFill>
                  <a:srgbClr val="050E9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Reduces cold-start impact for frequently rated items, improving user experience.</a:t>
            </a:r>
          </a:p>
          <a:p>
            <a:pPr algn="just">
              <a:lnSpc>
                <a:spcPts val="5688"/>
              </a:lnSpc>
            </a:pP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803701" y="-1276350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5084124" y="7600950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522665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226652" y="0"/>
                </a:lnTo>
                <a:lnTo>
                  <a:pt x="5226652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891268" y="-1552575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-767957" y="7762875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30599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059914" y="0"/>
                </a:lnTo>
                <a:lnTo>
                  <a:pt x="3059914" y="411480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291957" y="2409695"/>
            <a:ext cx="14320550" cy="7410580"/>
          </a:xfrm>
          <a:custGeom>
            <a:avLst/>
            <a:gdLst/>
            <a:ahLst/>
            <a:cxnLst/>
            <a:rect r="r" b="b" t="t" l="l"/>
            <a:pathLst>
              <a:path h="7410580" w="14320550">
                <a:moveTo>
                  <a:pt x="0" y="0"/>
                </a:moveTo>
                <a:lnTo>
                  <a:pt x="14320550" y="0"/>
                </a:lnTo>
                <a:lnTo>
                  <a:pt x="14320550" y="7410580"/>
                </a:lnTo>
                <a:lnTo>
                  <a:pt x="0" y="741058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-26250" b="0"/>
            </a:stretch>
          </a:blipFill>
          <a:ln w="38100" cap="sq">
            <a:solidFill>
              <a:srgbClr val="050E9B"/>
            </a:solidFill>
            <a:prstDash val="solid"/>
            <a:miter/>
          </a:ln>
        </p:spPr>
      </p:sp>
      <p:sp>
        <p:nvSpPr>
          <p:cNvPr name="TextBox 8" id="8"/>
          <p:cNvSpPr txBox="true"/>
          <p:nvPr/>
        </p:nvSpPr>
        <p:spPr>
          <a:xfrm rot="0">
            <a:off x="2257059" y="1320396"/>
            <a:ext cx="10319762" cy="698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599"/>
              </a:lnSpc>
            </a:pPr>
            <a:r>
              <a:rPr lang="en-US" sz="3999" b="true">
                <a:solidFill>
                  <a:srgbClr val="050E9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2.Model 2 – SVD Matrix Factorization: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803701" y="-1276350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5084124" y="7600950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522665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226652" y="0"/>
                </a:lnTo>
                <a:lnTo>
                  <a:pt x="5226652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891268" y="-1552575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-767957" y="7762875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30599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059914" y="0"/>
                </a:lnTo>
                <a:lnTo>
                  <a:pt x="3059914" y="411480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908384" y="1431036"/>
            <a:ext cx="14071182" cy="7836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77240" indent="-388620" lvl="1">
              <a:lnSpc>
                <a:spcPts val="5688"/>
              </a:lnSpc>
              <a:buFont typeface="Arial"/>
              <a:buChar char="•"/>
            </a:pPr>
            <a:r>
              <a:rPr lang="en-US" sz="3600">
                <a:solidFill>
                  <a:srgbClr val="050E9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SVD (Singular Value Decomposition) decomposes the user–item matrix into latent features representing users and products.</a:t>
            </a:r>
          </a:p>
          <a:p>
            <a:pPr algn="just" marL="777240" indent="-388620" lvl="1">
              <a:lnSpc>
                <a:spcPts val="5688"/>
              </a:lnSpc>
              <a:buFont typeface="Arial"/>
              <a:buChar char="•"/>
            </a:pPr>
            <a:r>
              <a:rPr lang="en-US" sz="3600">
                <a:solidFill>
                  <a:srgbClr val="050E9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Helps capture hidden patterns in user preferences and item characteristics.</a:t>
            </a:r>
          </a:p>
          <a:p>
            <a:pPr algn="just" marL="777240" indent="-388620" lvl="1">
              <a:lnSpc>
                <a:spcPts val="5688"/>
              </a:lnSpc>
              <a:buFont typeface="Arial"/>
              <a:buChar char="•"/>
            </a:pPr>
            <a:r>
              <a:rPr lang="en-US" sz="3600">
                <a:solidFill>
                  <a:srgbClr val="050E9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Works well for sparse datasets, improving prediction accuracy.</a:t>
            </a:r>
          </a:p>
          <a:p>
            <a:pPr algn="just" marL="777240" indent="-388620" lvl="1">
              <a:lnSpc>
                <a:spcPts val="5688"/>
              </a:lnSpc>
              <a:buFont typeface="Arial"/>
              <a:buChar char="•"/>
            </a:pPr>
            <a:r>
              <a:rPr lang="en-US" sz="3600">
                <a:solidFill>
                  <a:srgbClr val="050E9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Reduces dimensionality, making computations faster and more scalable.</a:t>
            </a:r>
          </a:p>
          <a:p>
            <a:pPr algn="just" marL="777240" indent="-388620" lvl="1">
              <a:lnSpc>
                <a:spcPts val="5688"/>
              </a:lnSpc>
              <a:buFont typeface="Arial"/>
              <a:buChar char="•"/>
            </a:pPr>
            <a:r>
              <a:rPr lang="en-US" sz="3600">
                <a:solidFill>
                  <a:srgbClr val="050E9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 predict missing ratings by reconstructing the approximated user–item matrix.</a:t>
            </a:r>
          </a:p>
          <a:p>
            <a:pPr algn="just" marL="777240" indent="-388620" lvl="1">
              <a:lnSpc>
                <a:spcPts val="5688"/>
              </a:lnSpc>
              <a:buFont typeface="Arial"/>
              <a:buChar char="•"/>
            </a:pPr>
            <a:r>
              <a:rPr lang="en-US" sz="3600">
                <a:solidFill>
                  <a:srgbClr val="050E9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Enhances recommendation quality by identifying subtle similarities not visible in direct user-item interactions.</a:t>
            </a:r>
          </a:p>
          <a:p>
            <a:pPr algn="just">
              <a:lnSpc>
                <a:spcPts val="5688"/>
              </a:lnSpc>
            </a:pP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803701" y="-1276350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5084124" y="7600950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522665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226652" y="0"/>
                </a:lnTo>
                <a:lnTo>
                  <a:pt x="5226652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891268" y="-1552575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-767957" y="7762875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30599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059914" y="0"/>
                </a:lnTo>
                <a:lnTo>
                  <a:pt x="3059914" y="411480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291957" y="3048976"/>
            <a:ext cx="6852043" cy="5369724"/>
          </a:xfrm>
          <a:custGeom>
            <a:avLst/>
            <a:gdLst/>
            <a:ahLst/>
            <a:cxnLst/>
            <a:rect r="r" b="b" t="t" l="l"/>
            <a:pathLst>
              <a:path h="5369724" w="6852043">
                <a:moveTo>
                  <a:pt x="0" y="0"/>
                </a:moveTo>
                <a:lnTo>
                  <a:pt x="6852043" y="0"/>
                </a:lnTo>
                <a:lnTo>
                  <a:pt x="6852043" y="5369723"/>
                </a:lnTo>
                <a:lnTo>
                  <a:pt x="0" y="536972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  <a:ln w="38100" cap="sq">
            <a:solidFill>
              <a:srgbClr val="050E9B"/>
            </a:solidFill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9350932" y="3048976"/>
            <a:ext cx="6891309" cy="5369724"/>
          </a:xfrm>
          <a:custGeom>
            <a:avLst/>
            <a:gdLst/>
            <a:ahLst/>
            <a:cxnLst/>
            <a:rect r="r" b="b" t="t" l="l"/>
            <a:pathLst>
              <a:path h="5369724" w="6891309">
                <a:moveTo>
                  <a:pt x="0" y="0"/>
                </a:moveTo>
                <a:lnTo>
                  <a:pt x="6891309" y="0"/>
                </a:lnTo>
                <a:lnTo>
                  <a:pt x="6891309" y="5369723"/>
                </a:lnTo>
                <a:lnTo>
                  <a:pt x="0" y="536972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  <a:ln w="38100" cap="sq">
            <a:solidFill>
              <a:srgbClr val="050E9B"/>
            </a:solidFill>
            <a:prstDash val="solid"/>
            <a:miter/>
          </a:ln>
        </p:spPr>
      </p:sp>
      <p:sp>
        <p:nvSpPr>
          <p:cNvPr name="TextBox 9" id="9"/>
          <p:cNvSpPr txBox="true"/>
          <p:nvPr/>
        </p:nvSpPr>
        <p:spPr>
          <a:xfrm rot="0">
            <a:off x="2849397" y="1779270"/>
            <a:ext cx="5737163" cy="1163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3300" b="true">
                <a:solidFill>
                  <a:srgbClr val="050E9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User-based Clustering (Based on Rating Behaviour)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304145" y="1779270"/>
            <a:ext cx="4984883" cy="1163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3300" b="true">
                <a:solidFill>
                  <a:srgbClr val="050E9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Product-based Clustering (SVD latent features)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87022" y="8357487"/>
            <a:ext cx="15079896" cy="2399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34061" indent="-367031" lvl="1">
              <a:lnSpc>
                <a:spcPts val="4760"/>
              </a:lnSpc>
              <a:buFont typeface="Arial"/>
              <a:buChar char="•"/>
            </a:pPr>
            <a:r>
              <a:rPr lang="en-US" sz="3400">
                <a:solidFill>
                  <a:srgbClr val="050E9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Cluster 0 represents the largest group of users with common rating patterns.</a:t>
            </a:r>
          </a:p>
          <a:p>
            <a:pPr algn="just" marL="734061" indent="-367031" lvl="1">
              <a:lnSpc>
                <a:spcPts val="4760"/>
              </a:lnSpc>
              <a:buFont typeface="Arial"/>
              <a:buChar char="•"/>
            </a:pPr>
            <a:r>
              <a:rPr lang="en-US" sz="3400">
                <a:solidFill>
                  <a:srgbClr val="050E9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Clusters 1, 2, and 3 represent smaller user groups with distinct or niche preferences.</a:t>
            </a:r>
          </a:p>
          <a:p>
            <a:pPr algn="just">
              <a:lnSpc>
                <a:spcPts val="4760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2291957" y="852170"/>
            <a:ext cx="14235222" cy="698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599"/>
              </a:lnSpc>
            </a:pPr>
            <a:r>
              <a:rPr lang="en-US" sz="3999" b="true">
                <a:solidFill>
                  <a:srgbClr val="050E9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3.Model 3 - K-Means Clustering (User &amp; Product Segmentation)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803701" y="-1276350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5084124" y="7600950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522665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226652" y="0"/>
                </a:lnTo>
                <a:lnTo>
                  <a:pt x="5226652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015093" y="-1571625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-767957" y="7762875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30599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059914" y="0"/>
                </a:lnTo>
                <a:lnTo>
                  <a:pt x="3059914" y="411480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71525" y="1638683"/>
            <a:ext cx="8056350" cy="4612261"/>
          </a:xfrm>
          <a:custGeom>
            <a:avLst/>
            <a:gdLst/>
            <a:ahLst/>
            <a:cxnLst/>
            <a:rect r="r" b="b" t="t" l="l"/>
            <a:pathLst>
              <a:path h="4612261" w="8056350">
                <a:moveTo>
                  <a:pt x="0" y="0"/>
                </a:moveTo>
                <a:lnTo>
                  <a:pt x="8056350" y="0"/>
                </a:lnTo>
                <a:lnTo>
                  <a:pt x="8056350" y="4612260"/>
                </a:lnTo>
                <a:lnTo>
                  <a:pt x="0" y="461226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  <a:ln w="38100" cap="sq">
            <a:solidFill>
              <a:srgbClr val="050E9B"/>
            </a:solidFill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8875500" y="1638683"/>
            <a:ext cx="8056350" cy="4612261"/>
          </a:xfrm>
          <a:custGeom>
            <a:avLst/>
            <a:gdLst/>
            <a:ahLst/>
            <a:cxnLst/>
            <a:rect r="r" b="b" t="t" l="l"/>
            <a:pathLst>
              <a:path h="4612261" w="8056350">
                <a:moveTo>
                  <a:pt x="0" y="0"/>
                </a:moveTo>
                <a:lnTo>
                  <a:pt x="8056351" y="0"/>
                </a:lnTo>
                <a:lnTo>
                  <a:pt x="8056351" y="4612260"/>
                </a:lnTo>
                <a:lnTo>
                  <a:pt x="0" y="461226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  <a:ln w="38100" cap="sq">
            <a:solidFill>
              <a:srgbClr val="050E9B"/>
            </a:solidFill>
            <a:prstDash val="solid"/>
            <a:miter/>
          </a:ln>
        </p:spPr>
      </p:sp>
      <p:sp>
        <p:nvSpPr>
          <p:cNvPr name="TextBox 9" id="9"/>
          <p:cNvSpPr txBox="true"/>
          <p:nvPr/>
        </p:nvSpPr>
        <p:spPr>
          <a:xfrm rot="0">
            <a:off x="2816989" y="660400"/>
            <a:ext cx="3965422" cy="698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u="sng" b="true">
                <a:solidFill>
                  <a:srgbClr val="050E9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User Dendrogram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535835" y="685800"/>
            <a:ext cx="4735681" cy="698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u="sng" b="true">
                <a:solidFill>
                  <a:srgbClr val="050E9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Product Dendrogram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842429" y="6625590"/>
            <a:ext cx="15079896" cy="3194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50E9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Cluster 0 represents majority users with balanced rating behaviour.</a:t>
            </a:r>
          </a:p>
          <a:p>
            <a:pPr algn="just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50E9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Cluster 1 contains users with consistent and selective preferences.</a:t>
            </a:r>
          </a:p>
          <a:p>
            <a:pPr algn="just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50E9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Cluster 2 includes exploratory users with diverse rating patterns.</a:t>
            </a:r>
          </a:p>
          <a:p>
            <a:pPr algn="just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50E9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Cluster 3 represents outlier users with unusual or extreme behaviour.</a:t>
            </a:r>
          </a:p>
          <a:p>
            <a:pPr algn="just">
              <a:lnSpc>
                <a:spcPts val="5040"/>
              </a:lnSpc>
            </a:pP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803701" y="-1276350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5084124" y="7600950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522665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226652" y="0"/>
                </a:lnTo>
                <a:lnTo>
                  <a:pt x="5226652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891268" y="-1552575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-767957" y="7762875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30599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059914" y="0"/>
                </a:lnTo>
                <a:lnTo>
                  <a:pt x="3059914" y="411480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778194" y="628650"/>
            <a:ext cx="14750661" cy="9979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77240" indent="-388620" lvl="1">
              <a:lnSpc>
                <a:spcPts val="5688"/>
              </a:lnSpc>
              <a:buFont typeface="Arial"/>
              <a:buChar char="•"/>
            </a:pPr>
            <a:r>
              <a:rPr lang="en-US" sz="3600">
                <a:solidFill>
                  <a:srgbClr val="050E9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K-Means clustering was used to group users and products based on similar rating patterns.</a:t>
            </a:r>
          </a:p>
          <a:p>
            <a:pPr algn="just" marL="777240" indent="-388620" lvl="1">
              <a:lnSpc>
                <a:spcPts val="5688"/>
              </a:lnSpc>
              <a:buFont typeface="Arial"/>
              <a:buChar char="•"/>
            </a:pPr>
            <a:r>
              <a:rPr lang="en-US" sz="3600">
                <a:solidFill>
                  <a:srgbClr val="050E9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Users with similar preferences are placed into the same cluster.</a:t>
            </a:r>
          </a:p>
          <a:p>
            <a:pPr algn="just" marL="777240" indent="-388620" lvl="1">
              <a:lnSpc>
                <a:spcPts val="5688"/>
              </a:lnSpc>
              <a:buFont typeface="Arial"/>
              <a:buChar char="•"/>
            </a:pPr>
            <a:r>
              <a:rPr lang="en-US" sz="3600">
                <a:solidFill>
                  <a:srgbClr val="050E9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Products with similar engagement behavior are grouped together.</a:t>
            </a:r>
          </a:p>
          <a:p>
            <a:pPr algn="just" marL="777240" indent="-388620" lvl="1">
              <a:lnSpc>
                <a:spcPts val="5688"/>
              </a:lnSpc>
              <a:buFont typeface="Arial"/>
              <a:buChar char="•"/>
            </a:pPr>
            <a:r>
              <a:rPr lang="en-US" sz="3600">
                <a:solidFill>
                  <a:srgbClr val="050E9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Clustering helps identify behavioral segments within the dataset.</a:t>
            </a:r>
          </a:p>
          <a:p>
            <a:pPr algn="just" marL="777240" indent="-388620" lvl="1">
              <a:lnSpc>
                <a:spcPts val="5688"/>
              </a:lnSpc>
              <a:buFont typeface="Arial"/>
              <a:buChar char="•"/>
            </a:pPr>
            <a:r>
              <a:rPr lang="en-US" sz="3600">
                <a:solidFill>
                  <a:srgbClr val="050E9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These segments can be used to improve recommendation relevance.</a:t>
            </a:r>
          </a:p>
          <a:p>
            <a:pPr algn="just" marL="777240" indent="-388620" lvl="1">
              <a:lnSpc>
                <a:spcPts val="5688"/>
              </a:lnSpc>
              <a:buFont typeface="Arial"/>
              <a:buChar char="•"/>
            </a:pPr>
            <a:r>
              <a:rPr lang="en-US" sz="3600">
                <a:solidFill>
                  <a:srgbClr val="050E9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K-Means provides an efficient and scalable approach for large datasets.</a:t>
            </a:r>
          </a:p>
          <a:p>
            <a:pPr algn="just" marL="777240" indent="-388620" lvl="1">
              <a:lnSpc>
                <a:spcPts val="5688"/>
              </a:lnSpc>
              <a:buFont typeface="Arial"/>
              <a:buChar char="•"/>
            </a:pPr>
            <a:r>
              <a:rPr lang="en-US" sz="3600">
                <a:solidFill>
                  <a:srgbClr val="050E9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User-based clustering achieved a silhouette score of 0.8477.</a:t>
            </a:r>
          </a:p>
          <a:p>
            <a:pPr algn="just" marL="777240" indent="-388620" lvl="1">
              <a:lnSpc>
                <a:spcPts val="5688"/>
              </a:lnSpc>
              <a:buFont typeface="Arial"/>
              <a:buChar char="•"/>
            </a:pPr>
            <a:r>
              <a:rPr lang="en-US" sz="3600">
                <a:solidFill>
                  <a:srgbClr val="050E9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indicates strong cohesion within user clusters and good separation between them.</a:t>
            </a:r>
          </a:p>
          <a:p>
            <a:pPr algn="just" marL="777240" indent="-388620" lvl="1">
              <a:lnSpc>
                <a:spcPts val="5688"/>
              </a:lnSpc>
              <a:buFont typeface="Arial"/>
              <a:buChar char="•"/>
            </a:pPr>
            <a:r>
              <a:rPr lang="en-US" sz="3600">
                <a:solidFill>
                  <a:srgbClr val="050E9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Product-based clustering achieved a silhouette score of 0.9064.</a:t>
            </a:r>
          </a:p>
          <a:p>
            <a:pPr algn="just" marL="777240" indent="-388620" lvl="1">
              <a:lnSpc>
                <a:spcPts val="5688"/>
              </a:lnSpc>
              <a:buFont typeface="Arial"/>
              <a:buChar char="•"/>
            </a:pPr>
            <a:r>
              <a:rPr lang="en-US" sz="3600">
                <a:solidFill>
                  <a:srgbClr val="050E9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high product silhouette score confirms meaningful grouping in the latent feature space.</a:t>
            </a:r>
          </a:p>
          <a:p>
            <a:pPr algn="just">
              <a:lnSpc>
                <a:spcPts val="5688"/>
              </a:lnSpc>
            </a:pP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803701" y="-1276350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5084124" y="7600950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522665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226652" y="0"/>
                </a:lnTo>
                <a:lnTo>
                  <a:pt x="5226652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891268" y="-1552575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-767957" y="7762875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30599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059914" y="0"/>
                </a:lnTo>
                <a:lnTo>
                  <a:pt x="3059914" y="411480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487201" y="933450"/>
            <a:ext cx="11721915" cy="698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b="true">
                <a:solidFill>
                  <a:srgbClr val="050E9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Final Model - SVD (Singular Value Decomposition):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113454" y="1708351"/>
            <a:ext cx="14137293" cy="8779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63599" indent="-431800" lvl="1">
              <a:lnSpc>
                <a:spcPts val="6319"/>
              </a:lnSpc>
              <a:buFont typeface="Arial"/>
              <a:buChar char="•"/>
            </a:pPr>
            <a:r>
              <a:rPr lang="en-US" sz="3999">
                <a:solidFill>
                  <a:srgbClr val="050E9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Multiple recommendation models were implemented and evaluated.</a:t>
            </a:r>
          </a:p>
          <a:p>
            <a:pPr algn="just" marL="863599" indent="-431800" lvl="1">
              <a:lnSpc>
                <a:spcPts val="6319"/>
              </a:lnSpc>
              <a:buFont typeface="Arial"/>
              <a:buChar char="•"/>
            </a:pPr>
            <a:r>
              <a:rPr lang="en-US" sz="3999">
                <a:solidFill>
                  <a:srgbClr val="050E9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Item-Based Collaborative Filtering served as a baseline model.</a:t>
            </a:r>
          </a:p>
          <a:p>
            <a:pPr algn="just" marL="863599" indent="-431800" lvl="1">
              <a:lnSpc>
                <a:spcPts val="6319"/>
              </a:lnSpc>
              <a:buFont typeface="Arial"/>
              <a:buChar char="•"/>
            </a:pPr>
            <a:r>
              <a:rPr lang="en-US" sz="3999">
                <a:solidFill>
                  <a:srgbClr val="050E9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K-Means clustering was used for user and product segmentation.</a:t>
            </a:r>
          </a:p>
          <a:p>
            <a:pPr algn="just" marL="863599" indent="-431800" lvl="1">
              <a:lnSpc>
                <a:spcPts val="6319"/>
              </a:lnSpc>
              <a:buFont typeface="Arial"/>
              <a:buChar char="•"/>
            </a:pPr>
            <a:r>
              <a:rPr lang="en-US" sz="3999">
                <a:solidFill>
                  <a:srgbClr val="050E9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SVD demonstrated superior performance in ranking-based evaluation.</a:t>
            </a:r>
          </a:p>
          <a:p>
            <a:pPr algn="just" marL="863599" indent="-431800" lvl="1">
              <a:lnSpc>
                <a:spcPts val="6319"/>
              </a:lnSpc>
              <a:buFont typeface="Arial"/>
              <a:buChar char="•"/>
            </a:pPr>
            <a:r>
              <a:rPr lang="en-US" sz="3999">
                <a:solidFill>
                  <a:srgbClr val="050E9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Achieved higher Precision@K and Hit@K values.</a:t>
            </a:r>
          </a:p>
          <a:p>
            <a:pPr algn="just" marL="863599" indent="-431800" lvl="1">
              <a:lnSpc>
                <a:spcPts val="6319"/>
              </a:lnSpc>
              <a:buFont typeface="Arial"/>
              <a:buChar char="•"/>
            </a:pPr>
            <a:r>
              <a:rPr lang="en-US" sz="3999">
                <a:solidFill>
                  <a:srgbClr val="050E9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Effectively captured latent user - item relationships.</a:t>
            </a:r>
          </a:p>
          <a:p>
            <a:pPr algn="just" marL="863599" indent="-431800" lvl="1">
              <a:lnSpc>
                <a:spcPts val="6319"/>
              </a:lnSpc>
              <a:buFont typeface="Arial"/>
              <a:buChar char="•"/>
            </a:pPr>
            <a:r>
              <a:rPr lang="en-US" sz="3999">
                <a:solidFill>
                  <a:srgbClr val="050E9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Provided consistent and relevant recommendations.</a:t>
            </a:r>
          </a:p>
          <a:p>
            <a:pPr algn="just" marL="863599" indent="-431800" lvl="1">
              <a:lnSpc>
                <a:spcPts val="6319"/>
              </a:lnSpc>
              <a:buFont typeface="Arial"/>
              <a:buChar char="•"/>
            </a:pPr>
            <a:r>
              <a:rPr lang="en-US" sz="3999">
                <a:solidFill>
                  <a:srgbClr val="050E9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Selected as the final model for deployment.</a:t>
            </a:r>
          </a:p>
          <a:p>
            <a:pPr algn="just">
              <a:lnSpc>
                <a:spcPts val="6319"/>
              </a:lnSpc>
            </a:pP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803701" y="-1276350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5084124" y="7600950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522665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226652" y="0"/>
                </a:lnTo>
                <a:lnTo>
                  <a:pt x="5226652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891268" y="-1552575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-767957" y="7762875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30599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059914" y="0"/>
                </a:lnTo>
                <a:lnTo>
                  <a:pt x="3059914" y="411480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691609" y="933450"/>
            <a:ext cx="4714762" cy="698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599"/>
              </a:lnSpc>
            </a:pPr>
            <a:r>
              <a:rPr lang="en-US" sz="3999" b="true">
                <a:solidFill>
                  <a:srgbClr val="050E9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Model Evaluation: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291957" y="1968500"/>
            <a:ext cx="13796764" cy="7747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50E9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final SVD model was evaluated using ranking-based metrics</a:t>
            </a:r>
          </a:p>
          <a:p>
            <a:pPr algn="just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50E9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Precision@K measured the accuracy of top-K recommendations</a:t>
            </a:r>
          </a:p>
          <a:p>
            <a:pPr algn="just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50E9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Precision@10 assessed the relevance of the top 10 suggested products</a:t>
            </a:r>
          </a:p>
          <a:p>
            <a:pPr algn="just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50E9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Hit@K verified the presence of relevant items in the recommendation list</a:t>
            </a:r>
          </a:p>
          <a:p>
            <a:pPr algn="just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50E9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SVD model demonstrated strong and consistent evaluation performance</a:t>
            </a:r>
          </a:p>
          <a:p>
            <a:pPr algn="just">
              <a:lnSpc>
                <a:spcPts val="5599"/>
              </a:lnSpc>
            </a:pP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803701" y="-1276350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5084124" y="7600950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522665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226652" y="0"/>
                </a:lnTo>
                <a:lnTo>
                  <a:pt x="5226652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024618" y="-1552575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-767957" y="7762875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30599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059914" y="0"/>
                </a:lnTo>
                <a:lnTo>
                  <a:pt x="3059914" y="411480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51640" y="1901205"/>
            <a:ext cx="15584721" cy="7638857"/>
          </a:xfrm>
          <a:custGeom>
            <a:avLst/>
            <a:gdLst/>
            <a:ahLst/>
            <a:cxnLst/>
            <a:rect r="r" b="b" t="t" l="l"/>
            <a:pathLst>
              <a:path h="7638857" w="15584721">
                <a:moveTo>
                  <a:pt x="0" y="0"/>
                </a:moveTo>
                <a:lnTo>
                  <a:pt x="15584720" y="0"/>
                </a:lnTo>
                <a:lnTo>
                  <a:pt x="15584720" y="7638857"/>
                </a:lnTo>
                <a:lnTo>
                  <a:pt x="0" y="763885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3715" t="0" r="-3715" b="0"/>
            </a:stretch>
          </a:blipFill>
          <a:ln w="38100" cap="sq">
            <a:solidFill>
              <a:srgbClr val="050E9B"/>
            </a:solidFill>
            <a:prstDash val="solid"/>
            <a:miter/>
          </a:ln>
        </p:spPr>
      </p:sp>
      <p:sp>
        <p:nvSpPr>
          <p:cNvPr name="TextBox 8" id="8"/>
          <p:cNvSpPr txBox="true"/>
          <p:nvPr/>
        </p:nvSpPr>
        <p:spPr>
          <a:xfrm rot="0">
            <a:off x="3621615" y="314935"/>
            <a:ext cx="11074721" cy="1147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24"/>
              </a:lnSpc>
            </a:pPr>
            <a:r>
              <a:rPr lang="en-US" sz="7800" u="sng">
                <a:solidFill>
                  <a:srgbClr val="050E9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DEPLOYMENT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803701" y="-1276350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5084124" y="7600950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522665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226652" y="0"/>
                </a:lnTo>
                <a:lnTo>
                  <a:pt x="5226652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891268" y="-1552575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-767957" y="7762875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30599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059914" y="0"/>
                </a:lnTo>
                <a:lnTo>
                  <a:pt x="3059914" y="411480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477596" y="809625"/>
            <a:ext cx="14970859" cy="9579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63599" indent="-431800" lvl="1">
              <a:lnSpc>
                <a:spcPts val="6319"/>
              </a:lnSpc>
              <a:buFont typeface="Arial"/>
              <a:buChar char="•"/>
            </a:pPr>
            <a:r>
              <a:rPr lang="en-US" sz="3999">
                <a:solidFill>
                  <a:srgbClr val="050E9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Deployed the final recommendation system as an interactive web application.</a:t>
            </a:r>
          </a:p>
          <a:p>
            <a:pPr algn="just" marL="863599" indent="-431800" lvl="1">
              <a:lnSpc>
                <a:spcPts val="6319"/>
              </a:lnSpc>
              <a:buFont typeface="Arial"/>
              <a:buChar char="•"/>
            </a:pPr>
            <a:r>
              <a:rPr lang="en-US" sz="3999">
                <a:solidFill>
                  <a:srgbClr val="050E9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Supports User → Product recommendations using SVD-based collaborative filtering.</a:t>
            </a:r>
          </a:p>
          <a:p>
            <a:pPr algn="just" marL="863599" indent="-431800" lvl="1">
              <a:lnSpc>
                <a:spcPts val="6319"/>
              </a:lnSpc>
              <a:buFont typeface="Arial"/>
              <a:buChar char="•"/>
            </a:pPr>
            <a:r>
              <a:rPr lang="en-US" sz="3999">
                <a:solidFill>
                  <a:srgbClr val="050E9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Allows users to select a User ID for personalized recommendations.</a:t>
            </a:r>
          </a:p>
          <a:p>
            <a:pPr algn="just" marL="863599" indent="-431800" lvl="1">
              <a:lnSpc>
                <a:spcPts val="6319"/>
              </a:lnSpc>
              <a:buFont typeface="Arial"/>
              <a:buChar char="•"/>
            </a:pPr>
            <a:r>
              <a:rPr lang="en-US" sz="3999">
                <a:solidFill>
                  <a:srgbClr val="050E9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Provides dynamic control over the number of recommendations using a slider.</a:t>
            </a:r>
          </a:p>
          <a:p>
            <a:pPr algn="just" marL="863599" indent="-431800" lvl="1">
              <a:lnSpc>
                <a:spcPts val="6319"/>
              </a:lnSpc>
              <a:buFont typeface="Arial"/>
              <a:buChar char="•"/>
            </a:pPr>
            <a:r>
              <a:rPr lang="en-US" sz="3999">
                <a:solidFill>
                  <a:srgbClr val="050E9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Supports Product → User recommendations using clustering-based segmentation.</a:t>
            </a:r>
          </a:p>
          <a:p>
            <a:pPr algn="just" marL="863599" indent="-431800" lvl="1">
              <a:lnSpc>
                <a:spcPts val="6319"/>
              </a:lnSpc>
              <a:buFont typeface="Arial"/>
              <a:buChar char="•"/>
            </a:pPr>
            <a:r>
              <a:rPr lang="en-US" sz="3999">
                <a:solidFill>
                  <a:srgbClr val="050E9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Displays recommendations instantly through a user-friendly interface.</a:t>
            </a:r>
          </a:p>
          <a:p>
            <a:pPr algn="just">
              <a:lnSpc>
                <a:spcPts val="6319"/>
              </a:lnSpc>
            </a:pP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803701" y="-1276350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5084124" y="7600950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522665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226652" y="0"/>
                </a:lnTo>
                <a:lnTo>
                  <a:pt x="5226652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891268" y="-1552575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-767957" y="7762875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30599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059914" y="0"/>
                </a:lnTo>
                <a:lnTo>
                  <a:pt x="3059914" y="411480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487201" y="933450"/>
            <a:ext cx="11265184" cy="698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b="true">
                <a:solidFill>
                  <a:srgbClr val="050E9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Challenges Faced During the Project: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215757" y="1678940"/>
            <a:ext cx="14071182" cy="7179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63599" indent="-431800" lvl="1">
              <a:lnSpc>
                <a:spcPts val="6319"/>
              </a:lnSpc>
              <a:buAutoNum type="arabicPeriod" startAt="1"/>
            </a:pPr>
            <a:r>
              <a:rPr lang="en-US" sz="3999">
                <a:solidFill>
                  <a:srgbClr val="050E9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Most users rated only a few products, making it difficult to generate accurate recommendations for new users or items.</a:t>
            </a:r>
          </a:p>
          <a:p>
            <a:pPr algn="just" marL="863599" indent="-431800" lvl="1">
              <a:lnSpc>
                <a:spcPts val="6319"/>
              </a:lnSpc>
              <a:buAutoNum type="arabicPeriod" startAt="1"/>
            </a:pPr>
            <a:r>
              <a:rPr lang="en-US" sz="3999">
                <a:solidFill>
                  <a:srgbClr val="050E9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Choosing the best model among Item-Based CF, SVD, and K-Means required extensive testing and careful metric-based evaluation.</a:t>
            </a:r>
          </a:p>
          <a:p>
            <a:pPr algn="just" marL="863599" indent="-431800" lvl="1">
              <a:lnSpc>
                <a:spcPts val="6319"/>
              </a:lnSpc>
              <a:buAutoNum type="arabicPeriod" startAt="1"/>
            </a:pPr>
            <a:r>
              <a:rPr lang="en-US" sz="3999">
                <a:solidFill>
                  <a:srgbClr val="050E9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Integrating the recommendation model into a web application for real-time predictions posed significant technical and optimization challenges.</a:t>
            </a:r>
          </a:p>
          <a:p>
            <a:pPr algn="just">
              <a:lnSpc>
                <a:spcPts val="6319"/>
              </a:lnSpc>
            </a:pP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803701" y="-1276350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5084124" y="7600950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522665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226652" y="0"/>
                </a:lnTo>
                <a:lnTo>
                  <a:pt x="5226652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891268" y="-1552575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-767957" y="7762875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30599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059914" y="0"/>
                </a:lnTo>
                <a:lnTo>
                  <a:pt x="3059914" y="411480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291957" y="603250"/>
            <a:ext cx="11265184" cy="698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b="true">
                <a:solidFill>
                  <a:srgbClr val="050E9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Conclusion: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00590" y="1644943"/>
            <a:ext cx="14970859" cy="7979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63599" indent="-431800" lvl="1">
              <a:lnSpc>
                <a:spcPts val="6319"/>
              </a:lnSpc>
              <a:buFont typeface="Arial"/>
              <a:buChar char="•"/>
            </a:pPr>
            <a:r>
              <a:rPr lang="en-US" sz="3999">
                <a:solidFill>
                  <a:srgbClr val="050E9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Developed a complete recommendation system from data preprocessing to deployment.</a:t>
            </a:r>
          </a:p>
          <a:p>
            <a:pPr algn="just" marL="863599" indent="-431800" lvl="1">
              <a:lnSpc>
                <a:spcPts val="6319"/>
              </a:lnSpc>
              <a:buFont typeface="Arial"/>
              <a:buChar char="•"/>
            </a:pPr>
            <a:r>
              <a:rPr lang="en-US" sz="3999">
                <a:solidFill>
                  <a:srgbClr val="050E9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Implemented Item-Based CF, SVD Matrix Factorization, and K-Means Clustering to generate accurate and personalized recommendations.</a:t>
            </a:r>
          </a:p>
          <a:p>
            <a:pPr algn="just" marL="863599" indent="-431800" lvl="1">
              <a:lnSpc>
                <a:spcPts val="6319"/>
              </a:lnSpc>
              <a:buFont typeface="Arial"/>
              <a:buChar char="•"/>
            </a:pPr>
            <a:r>
              <a:rPr lang="en-US" sz="3999">
                <a:solidFill>
                  <a:srgbClr val="050E9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Ensured recommendation relevance using Precision@K, Precision@10, and Hit@K metrics.</a:t>
            </a:r>
          </a:p>
          <a:p>
            <a:pPr algn="just" marL="863599" indent="-431800" lvl="1">
              <a:lnSpc>
                <a:spcPts val="6319"/>
              </a:lnSpc>
              <a:buFont typeface="Arial"/>
              <a:buChar char="•"/>
            </a:pPr>
            <a:r>
              <a:rPr lang="en-US" sz="3999">
                <a:solidFill>
                  <a:srgbClr val="050E9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Successfully deployed the system as a web application, enabling real-time personalized product suggestions for users.</a:t>
            </a:r>
          </a:p>
          <a:p>
            <a:pPr algn="just">
              <a:lnSpc>
                <a:spcPts val="6319"/>
              </a:lnSpc>
            </a:pP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803701" y="-1276350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5084124" y="7600950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522665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226652" y="0"/>
                </a:lnTo>
                <a:lnTo>
                  <a:pt x="5226652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891268" y="-1552575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-767957" y="7762875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30599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059914" y="0"/>
                </a:lnTo>
                <a:lnTo>
                  <a:pt x="3059914" y="411480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944157" y="1451595"/>
            <a:ext cx="10399687" cy="6149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586"/>
              </a:lnSpc>
            </a:pPr>
            <a:r>
              <a:rPr lang="en-US" sz="21839">
                <a:solidFill>
                  <a:srgbClr val="050E9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</a:t>
            </a:r>
          </a:p>
          <a:p>
            <a:pPr algn="l">
              <a:lnSpc>
                <a:spcPts val="23586"/>
              </a:lnSpc>
            </a:pPr>
            <a:r>
              <a:rPr lang="en-US" sz="21839">
                <a:solidFill>
                  <a:srgbClr val="050E9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YOU.....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DAG8N8_zYPc</dc:identifier>
  <dcterms:modified xsi:type="dcterms:W3CDTF">2011-08-01T06:04:30Z</dcterms:modified>
  <cp:revision>1</cp:revision>
  <dc:title>Blue Professional Geometric Presentation</dc:title>
</cp:coreProperties>
</file>